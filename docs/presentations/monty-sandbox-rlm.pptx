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26"/>
    <p:sldId id="276" r:id="rId27"/>
    <p:sldId id="277" r:id="rId28"/>
    <p:sldId id="273" r:id="rId24"/>
    <p:sldId id="274" r:id="rId25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Google Sans"/>
              </a:defRPr>
            </a:pPr>
            <a:r>
              <a:rPr sz="1400" b="0" i="0" u="none" strike="noStrike">
                <a:solidFill>
                  <a:srgbClr val="2B2B2B"/>
                </a:solidFill>
                <a:latin typeface="Google Sans"/>
              </a:rPr>
              <a:t>RLM vs long-context baselines (median % improvement)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RLM improvement</c:v>
                </c:pt>
              </c:strCache>
            </c:strRef>
          </c:tx>
          <c:spPr>
            <a:solidFill>
              <a:srgbClr val="D74248"/>
            </a:solidFill>
            <a:effectLst/>
          </c:spPr>
          <c:invertIfNegative val="0"/>
          <c:dLbls>
            <c:numFmt formatCode="+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vs compaction</c:v>
                  </c:pt>
                  <c:pt idx="1">
                    <c:v>vs CodeAct</c:v>
                  </c:pt>
                  <c:pt idx="2">
                    <c:v>vs Claude 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130</c:v>
                </c:pt>
                <c:pt idx="2">
                  <c:v>13</c:v>
                </c:pt>
              </c:numCache>
            </c:numRef>
          </c:val>
        </c:ser>
        <c:dLbls>
          <c:numFmt formatCode="+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 วันนี้ผมจะมาเล่าเรื่อง Monty Sandbox กับ Recursive Language Models หรือ RLM ครับ RLM เป็นงานวิจัยจาก MIT CSAIL ที่เสนอวิธีให้ LLM ประมวลผล prompt ที่ยาวเกิน context window ได้เป็นร้อยเท่า ส่วน pydantic-monty คือแซนด์บ็อกซ์รัน Python ที่เขียนด้วย Rust ธีมของเด็คนี้คือ: เปเปอร์ให้หลักฐานว่าสถาปัตยกรรมนี้ดี ส่วน monty คือ runtime ที่ทำให้มันใช้งานจริงในโปรดักชันได้ครับ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replace with your own introduction.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RLM คืออะไร? แนวคิดหลักคือ เลิกยัด prompt ยาว ๆ เข้า context window แล้วมองมันเป็น 'ข้อมูล' ที่อยู่ใน environment ภายนอกแทนครับ สี่ขั้นตอนตามการ์ดทางซ้าย: หนึ่ง prompt ถูกโหลดเป็นตัวแปรใน Python REPL ที่คงสถานะ — โมเดลจับต้องมันผ่าน reference เท่านั้น สอง โมเดลรากเห็นแค่ metadata เช่นความยาวกับ prefix สั้น ๆ สาม แต่ละรอบโมเดลเขียนโค้ดมา slice และแปลง prompt แถมเรียก sub-LM จากในลูปได้ และสี่ จบเมื่อโค้ดตั้งตัวแปร FINAL — คำตอบเลยยาวเกิน window ได้ด้วย ผลลัพธ์คือรับ input ได้ราว 100 เท่าของ context window หรือระดับ 10 ล้านโทเคนครับ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สไลด์นี้คือภาพรวมแบบย่อครับ ฝั่งซ้าย: คำถามผู้ใช้ไหลผ่าน Root LM แล้วออกมาเป็นคำตอบสุดท้าย ฝั่งขวาคือ Python REPL ที่ Root LM คุยด้วยผ่านสองลูกศร — ส่งโค้ดไป รับผลลัพธ์กลับ จุดสำคัญคือ context ทั้งหมดอยู่ในตัวแปรฝั่ง REPL ไม่ใช่ใน window ของโมเดล จากนั้นโค้ดจะแบ่ง context เป็นชิ้น ๆ ส่งให้ Sub-LM ที่ depth 1 อ่านทีละชิ้นแล้วส่งสรุปกลับเข้า REPL สุดท้ายคำตอบถูกประกอบใน environment แล้วค่อยส่งออกมาทีเดียวครับ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 Figure 2 จากเปเปอร์ — trace จริงหนึ่งรอบครับ เดินตามเลขทางขวา: หนึ่ง สังเกตกากบาทสีแดง prompt ไม่เคยวิ่งเข้าโมเดลตรง ๆ มันถูกโหลดเป็นตัวแปรใน environment สอง In[1] โมเดล 'แอบดู' ด้วย print(prompt[:100]) เห็นแค่ stdout ที่ถูก cap สาม In[2] โค้ดแบ่งเอกสารแล้วยิง llm_query สองครั้ง — แต่ละครั้ง spawn RLM เต็มตัวที่ depth 1 แล้ว sub-response ไหลกลับเข้า REPL และสี่ In[N] จบด้วย print(FINAL_ANSWER) — คำตอบถูกประกอบใน environment ไม่ได้ถูกพูดออกมาผ่าน window 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ทำไมถึงน่าสนใจ? ดูตัวเลขครับ กราฟขวาคือค่ามัธยฐานบน benchmark งาน long-context สี่ชุด ใช้ GPT-5 เป็นโมเดลราก: RLM ชนะ compaction 26% ชนะ CodeAct ถึง 130% และชนะ Claude Code 13% ที่ต้นทุนใกล้เคียงกัน ฝั่งซ้าย: รับ input ได้ราว 100 เท่าของ context window คือระดับ 10 ล้านโทเคนขึ้นไป และถ้า fine-tune ให้ทำงานแบบ RLM โดยเฉพาะ — RLM-Qwen3-8B ดีขึ้นจาก base ถึง 28.3% 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เปเปอร์ชี้ว่า scaffold แบบ tool-calling ทั่วไปพลาดสามข้อครับ หนึ่ง symbolic handle — โมเดลต้องจับ prompt ผ่าน reference คือตัวแปรใน REPL ห้าม copy ข้อความเข้า window สอง symbolic output — คำตอบออกจากตัวแปรใน REPL ไม่ใช่พูดออกมาทีละโทเคน ความยาว output เลยไม่จำกัด และสาม symbolic recursion — โค้ดที่รันอยู่ใน environment ต้องเรียก LM ด้วย input ที่สร้างจากโปรแกรมได้ ระดับ Ω ของขนาด prompt ในลูป ประเด็นแถบแดงล่างคือ: การมี 'sub-LLM tool' แยกไว้ข้าง ๆ 'code tool' ไม่พอ — recursion ต้องอยู่ข้างในโค้ดครับ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นี่คือหัวใจของเด็คครับ: ทุกข้อกำหนดในอัลกอริทึมของเปเปอร์ แมปลง primitive ของ pydantic-monty ได้ตรง ๆ — REPL ถาวรคือ MontySession, การโหลด prompt เป็นตัวแปรคือ inputs=, การเรียก sub-LM จากในโค้ดคือ external_lookup, ความ concurrent คือ AsyncMonty, ความปลอดภัยจากโค้ดที่โมเดลเขียนคือ Rust interpreter ที่ไม่มี filesystem/network/env, ลูปหลุดคุมโดน ResourceLimits จับ และการ resume งานยาว ๆ หลัง restart คือ dump()/load_snapshot() ครับ จุดที่อยากเน้น: reference implementation ของเปเปอร์รัน CPython แบบไม่มีรั้วเลย เหมาะกับ benchmark แต่ deploy จริงไม่ได้ — monty คือชิ้นที่ทำให้ลูปเดียวกัน deploy 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มาดูโค้ดจริงกันครับ ทั้งสามตัวอย่างรันได้จริงจากโฟลเดอร์ snippets ในรีโป บนสุด: session ที่คงสถานะ — ป้อน x = 21 รอบหนึ่ง รอบถัดไปถาม x * 2 ได้ 42 และ inputs= ผูกค่าจาก host เป็น global ในแซนด์บ็อกซ์ ตรงกลาง: ประตูออกมีเท่าที่เราเปิด — inputs คือค่าที่ผูกทันที external_lookup คือฟังก์ชันฝั่ง host ที่โค้ดในแซนด์บ็อกซ์เรียกได้ และ print_callback จับ stdout แบบ cap ขนาดได้ ล่างสุด: snapshot — feed_start หยุดค้างไว้ตรงที่รอ host ตอบ dump ออกมาเป็น bytes เก็บลงฐานข้อมูล แล้ว load กลับมา resume ที่เครื่องอื่นวันหลังได้ เหมือนไม่เคยหยุดครับ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ตัวอย่างนี้กลับหัวจาก pattern ปกติครับ — แทนที่ LLM จะเรียก tool ทีละตัวผ่าน context window เราเอา control flow ของเอเจนต์ทั้งลูปไปรันเป็นโค้ดในแซนด์บ็อกซ์ แล้ว call_llm เป็น external coroutine ประตูเดียวออกสู่โลกภายนอก แซนด์บ็อกซ์ต่อเน็ตเองไม่ได้ — host เป็นคนยิง Ollama ทุกครั้งแล้วป้อนคำตอบกลับเข้าไป แถมก่อนรันยังมี type_check ตรวจโค้ดเอเจนต์กับ stub ที่ host ประกาศ และ limits คุมเวลากับหน่วยความจำ นี่แหละครับ pattern เดียวกับที่ RLM ทำให้เป็นทางการ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คำถามที่ต้องเจอแน่ ๆ คือ ทำไมไม่ใช้ Docker หรือ WASM? ตารางนี้มาจาก README ของ pydantic/monty ครับ ประเด็นอยู่ที่สามคอลัมน์: ความเร็วสตาร์ท ความปลอดภัย และ snapshot — monty สตาร์ท 0.06 มิลลิวินาที เทียบกับ Docker 195 หรือ Pyodide เกือบสามวินาที ปลอดภัยระดับ strict และ snapshot ง่าย จุดแลกคือรองรับ Python แค่บางส่วน ซึ่งเดี๋ยวจะพูดถึงครับ ที่สามคอลัมน์นี้สำคัญเพราะงาน RLM หนึ่งครั้งคือ REPL หลายร้อยรอบบวก recursion — startup latency คูณเข้าไปทุกรอบ และงานยาว ๆ ต้อง resume 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ประกอบร่างกันครับ: ลูป RLM บน monty ไล่จากซ้าย — huge_prompt ถูกผูกเป็น global ในแซนด์บ็อกซ์ผ่าน inputs= โมเดลรากไม่เคยเห็น จากนั้น Root LLM เขียนโค้ดโดยเห็นแค่ len(prompt) กับ stdout เก่า โค้ดถูกส่งเข้า env.feed_run พร้อม external_lookup ที่มี llm_query — sub-LM call ถูก await แบบ concurrent แล้ว stdout ถูก cap ที่ 4KB ก่อนต่อเข้า history วนแบบนี้จนโค้ดตั้ง FINAL การ์ดล่างสองใบคือจุดขาย: คำตอบออกทาง REPL เลยใหญ่กว่า window ได้ และ dump() ระหว่างรอบทำให้ทั้ง run — แม้ค้างอยู่กลาง sub-LM call — freeze แล้ว resume หลัง restart ได้ ซึ่ง implementation ของเปเปอร์ทำไม่ได้ครับ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สไลด์ที่แล้วคือไดอะแกรม สไลด์นี้คือโค้ดจริงครับ — snippets/08_rlm_loop.py ในรีโป รันได้จริงกับ Ollama ในเครื่อง ผมทดสอบแล้ว: โมเดลอ่านโจทย์ด้วย print(prompt[:200]) รอบแรก รอบสองแบ่งเอกสารเป็นบทแล้ว await llm_query ทีละบท รอบสามประกอบคำตอบแล้วตั้ง FINAL — สามรอบจบ ดึงข้อเท็จจริงที่ซ่อนไว้ครบทั้งสี่จุด เกร็ดที่เจอตอนเขียน: dir() ไม่อยู่ใน subset ของ monty เลยต้อง probe FINAL ด้วย try/except NameError แทนครับ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เพื่อความแฟร์ สามอย่างที่ monty ไม่ได้แถมมาให้ครับ หนึ่ง มันรัน Python แบบ subset — ไม่มี third-party import ไม่มี class inheritance stdlib ไม่ครบ ต้องคุม system prompt ของโมเดลรากให้อยู่ใน subset หรือใช้ embedded-CPython worker ในกรณีที่ไว้ใจโค้ดได้ สอง วินัยการ truncate stdout เป็นหน้าที่เรา — monty ให้แค่ hook ที่ cap ขนาดได้ นโยบายสรุป/ตัดอยู่ที่ scaffold และสาม outer loop เป็นของเรา — monty คือ environment E ส่วน driver ที่วนโมเดลกับ REPL คือโค้ดฝั่ง host ทั้งสามข้อไม่ใช่ blocker ครับ มันคือ scaffold ที่ยังไงก็ต้องเขียนรอบ REPL อยู่แล้ว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replace with the Monty-Claw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สรุปปิดท้ายครับ: เปเปอร์ arXiv:2512.24601 ให้หลักฐาน — benchmark, ablation, cost analysis — ว่า 'ให้ LM เขียนโค้ดใน REPL ถาวร แล้วเรียก sub-LM จากในโค้ดได้' คือ abstraction ที่ถูกต้องสำหรับการ scale context ส่วน pydantic-monty ให้ runtime ที่ abstraction นั้นต้องการในโปรดักชัน: sandboxed, resource-limited, stateful, async-recursive และ snapshottable เปเปอร์บรรยายอัลกอริทึม — monty คือ environment E เกรดอุตสาหกรรมของมันครับ ขอบคุณครับ มีคำถามยินดีตอบครับ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0-map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1-tools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2-loop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4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remchotipanit-orca-workspaces-monty-claw-daggertooth/68ed5494-6007-4714-beb4-bddafff65978/scratchpad/rlm-deck/hero-recur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502920"/>
            <a:ext cx="5852160" cy="5852160"/>
          </a:xfrm>
          <a:prstGeom prst="rect">
            <a:avLst/>
          </a:prstGeom>
        </p:spPr>
      </p:pic>
      <p:pic>
        <p:nvPicPr>
          <p:cNvPr id="3" name="Image 1" descr="/Users/premchotipanit/orca/workspaces/monty-claw/daggertooth/assets/page-log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436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F8F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ARXIV:2512.24601  ·  MIT CSAIL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2148840"/>
            <a:ext cx="5577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 Sandbox for Recursive Language Models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22960" y="4389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F8F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pydantic-monty provides the runtime the RLM paradigm needs in production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22960" y="5349240"/>
            <a:ext cx="1783080" cy="512064"/>
          </a:xfrm>
          <a:prstGeom prst="roundRect">
            <a:avLst>
              <a:gd name="adj" fmla="val 50000"/>
            </a:avLst>
          </a:prstGeom>
          <a:solidFill>
            <a:srgbClr val="A93836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53492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Sandboxed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807208" y="5349240"/>
            <a:ext cx="1783080" cy="512064"/>
          </a:xfrm>
          <a:prstGeom prst="roundRect">
            <a:avLst>
              <a:gd name="adj" fmla="val 50000"/>
            </a:avLst>
          </a:prstGeom>
          <a:solidFill>
            <a:srgbClr val="A93836"/>
          </a:solidFill>
          <a:ln/>
        </p:spPr>
      </p:sp>
      <p:sp>
        <p:nvSpPr>
          <p:cNvPr id="10" name="Text 6"/>
          <p:cNvSpPr/>
          <p:nvPr/>
        </p:nvSpPr>
        <p:spPr>
          <a:xfrm>
            <a:off x="2807208" y="53492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Async-recursive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91456" y="5349240"/>
            <a:ext cx="1783080" cy="512064"/>
          </a:xfrm>
          <a:prstGeom prst="roundRect">
            <a:avLst>
              <a:gd name="adj" fmla="val 50000"/>
            </a:avLst>
          </a:prstGeom>
          <a:solidFill>
            <a:srgbClr val="A93836"/>
          </a:solidFill>
          <a:ln/>
        </p:spPr>
      </p:sp>
      <p:sp>
        <p:nvSpPr>
          <p:cNvPr id="12" name="Text 8"/>
          <p:cNvSpPr/>
          <p:nvPr/>
        </p:nvSpPr>
        <p:spPr>
          <a:xfrm>
            <a:off x="4791456" y="53492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Snapshottable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6172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8F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Zhang, Kraska, Khattab  ·  pydantic-monty 0.0.21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7F8FA"/>
          </a:solidFill>
          <a:ln w="25400">
            <a:solidFill>
              <a:srgbClr val="D7424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2834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9383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Placeholder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This section is reserved for the speaker's own introduction.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 is a Recursive Language Model?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long prompt is data in an external environment — never fed through the context window.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6309360" cy="1115568"/>
          </a:xfrm>
          <a:prstGeom prst="roundRect">
            <a:avLst>
              <a:gd name="adj" fmla="val 8197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19072"/>
            <a:ext cx="566928" cy="566928"/>
          </a:xfrm>
          <a:prstGeom prst="ellipse">
            <a:avLst/>
          </a:prstGeom>
          <a:solidFill>
            <a:srgbClr val="D742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3794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459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prompt P becomes a REPL variable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Loaded into a persistent Python REPL. The model handles it only by reference.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2734056"/>
            <a:ext cx="6309360" cy="1115568"/>
          </a:xfrm>
          <a:prstGeom prst="roundRect">
            <a:avLst>
              <a:gd name="adj" fmla="val 8197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916936"/>
            <a:ext cx="566928" cy="566928"/>
          </a:xfrm>
          <a:prstGeom prst="ellipse">
            <a:avLst/>
          </a:prstGeom>
          <a:solidFill>
            <a:srgbClr val="FA88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0358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8437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root LM sees only metadata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17320" y="320954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Length, a short prefix, and truncated stdout from each turn — constant size.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1480" y="3931920"/>
            <a:ext cx="6309360" cy="1115568"/>
          </a:xfrm>
          <a:prstGeom prst="roundRect">
            <a:avLst>
              <a:gd name="adj" fmla="val 8197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4114800"/>
            <a:ext cx="566928" cy="566928"/>
          </a:xfrm>
          <a:prstGeom prst="ellipse">
            <a:avLst/>
          </a:prstGeom>
          <a:solidFill>
            <a:srgbClr val="4DBC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2336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0416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LM writes code each iteration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17320" y="440740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Code peeks, slices, and transforms P — and calls sub-LMs from inside loops.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11480" y="5129784"/>
            <a:ext cx="6309360" cy="1115568"/>
          </a:xfrm>
          <a:prstGeom prst="roundRect">
            <a:avLst>
              <a:gd name="adj" fmla="val 8197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5312664"/>
            <a:ext cx="566928" cy="566928"/>
          </a:xfrm>
          <a:prstGeom prst="ellipse">
            <a:avLst/>
          </a:prstGeom>
          <a:solidFill>
            <a:srgbClr val="A9383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4315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52395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loop ends when code sets FINAL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417320" y="560527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answer is assembled symbolically in the REPL, so output size is unbounded too.</a:t>
            </a:r>
            <a:endParaRPr lang="en-US" sz="1200" dirty="0"/>
          </a:p>
        </p:txBody>
      </p:sp>
      <p:pic>
        <p:nvPicPr>
          <p:cNvPr id="24" name="Image 4" descr="/private/tmp/claude-501/-Users-premchotipanit-orca-workspaces-monty-claw-daggertooth/68ed5494-6007-4714-beb4-bddafff65978/scratchpad/rlm-deck/huge-promp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691640"/>
            <a:ext cx="4892040" cy="2743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858000" y="4663440"/>
            <a:ext cx="4892040" cy="1691640"/>
          </a:xfrm>
          <a:prstGeom prst="roundRect">
            <a:avLst>
              <a:gd name="adj" fmla="val 5405"/>
            </a:avLst>
          </a:prstGeom>
          <a:solidFill>
            <a:srgbClr val="FBEFEF"/>
          </a:solidFill>
          <a:ln/>
        </p:spPr>
      </p:sp>
      <p:sp>
        <p:nvSpPr>
          <p:cNvPr id="26" name="Text 19"/>
          <p:cNvSpPr/>
          <p:nvPr/>
        </p:nvSpPr>
        <p:spPr>
          <a:xfrm>
            <a:off x="7086600" y="484632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383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Handles inputs ~100× beyond the context window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10M+ token prompts processed at comparable cost.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architecture at a glance</a:t>
            </a:r>
            <a:endParaRPr lang="en-US" sz="3400" dirty="0"/>
          </a:p>
        </p:txBody>
      </p:sp>
      <p:pic>
        <p:nvPicPr>
          <p:cNvPr id="3" name="Image 0" descr="/Users/premchotipanit/orca/workspaces/monty-claw/daggertooth/docs/recursive_language_mode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7223760" cy="4882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1216152"/>
            <a:ext cx="3977640" cy="1133856"/>
          </a:xfrm>
          <a:prstGeom prst="roundRect">
            <a:avLst>
              <a:gd name="adj" fmla="val 8065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435608"/>
            <a:ext cx="256032" cy="256032"/>
          </a:xfrm>
          <a:prstGeom prst="ellipse">
            <a:avLst/>
          </a:prstGeom>
          <a:solidFill>
            <a:srgbClr val="D74248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344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One loop, two worlds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7282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Root LM (depth 0) talks to a Python REPL — code goes in, results come back. The user's question flows through the LM; the long prompt never does.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1480" y="2450592"/>
            <a:ext cx="3977640" cy="1133856"/>
          </a:xfrm>
          <a:prstGeom prst="roundRect">
            <a:avLst>
              <a:gd name="adj" fmla="val 8065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670048"/>
            <a:ext cx="256032" cy="256032"/>
          </a:xfrm>
          <a:prstGeom prst="ellipse">
            <a:avLst/>
          </a:prstGeom>
          <a:solidFill>
            <a:srgbClr val="FA8832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context lives in the REPL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9626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full prompt sits in a context variable inside the environment, handled only by reference.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3685032"/>
            <a:ext cx="3977640" cy="1133856"/>
          </a:xfrm>
          <a:prstGeom prst="roundRect">
            <a:avLst>
              <a:gd name="adj" fmla="val 8065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904488"/>
            <a:ext cx="256032" cy="256032"/>
          </a:xfrm>
          <a:prstGeom prst="ellipse">
            <a:avLst/>
          </a:prstGeom>
          <a:solidFill>
            <a:srgbClr val="4DBCD8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813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Sub-LMs read the pieces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41970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Code splits the context and hands each slice to a Sub-LM (depth 1), which returns its summary back into the REPL — recursion inside the code.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1480" y="4919472"/>
            <a:ext cx="3977640" cy="1133856"/>
          </a:xfrm>
          <a:prstGeom prst="roundRect">
            <a:avLst>
              <a:gd name="adj" fmla="val 8065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5138928"/>
            <a:ext cx="256032" cy="256032"/>
          </a:xfrm>
          <a:prstGeom prst="ellipse">
            <a:avLst/>
          </a:prstGeom>
          <a:solidFill>
            <a:srgbClr val="A93836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final answer comes out of the loop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54315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Assembled in the environment and returned once — not streamed through the root model's window.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80560" y="63550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Diagram: docs/recursive_language_model_architecture.png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Inside an RLM run</a:t>
            </a:r>
            <a:endParaRPr lang="en-US" sz="3400" dirty="0"/>
          </a:p>
        </p:txBody>
      </p:sp>
      <p:pic>
        <p:nvPicPr>
          <p:cNvPr id="3" name="Image 0" descr="/private/tmp/claude-501/-Users-premchotipanit-orca-workspaces-monty-claw-daggertooth/68ed5494-6007-4714-beb4-bddafff65978/scratchpad/rlm-deck/fig2-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903720" cy="5111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73952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2, arXiv:2512.24601 — one root trajectory over a book-length prompt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498080" y="1188720"/>
            <a:ext cx="4233672" cy="1170432"/>
          </a:xfrm>
          <a:prstGeom prst="roundRect">
            <a:avLst>
              <a:gd name="adj" fmla="val 7813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80960" y="1344168"/>
            <a:ext cx="402336" cy="402336"/>
          </a:xfrm>
          <a:prstGeom prst="ellipse">
            <a:avLst/>
          </a:prstGeom>
          <a:solidFill>
            <a:srgbClr val="D74248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75320" y="12984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prompt never enters the LM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75320" y="169164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It is loaded as a variable inside the Python environment E — the red ✗ marks the path that ordinary prompting would take.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98080" y="2487168"/>
            <a:ext cx="4233672" cy="1170432"/>
          </a:xfrm>
          <a:prstGeom prst="roundRect">
            <a:avLst>
              <a:gd name="adj" fmla="val 7813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0" y="2642616"/>
            <a:ext cx="402336" cy="402336"/>
          </a:xfrm>
          <a:prstGeom prst="ellipse">
            <a:avLst/>
          </a:prstGeom>
          <a:solidFill>
            <a:srgbClr val="FA8832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75320" y="25968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LM peeks with code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75320" y="299008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In[1]: print(prompt[:100]) — the model inspects slices of the book through the REPL, seeing only capped stdout.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98080" y="3785616"/>
            <a:ext cx="4233672" cy="1170432"/>
          </a:xfrm>
          <a:prstGeom prst="roundRect">
            <a:avLst>
              <a:gd name="adj" fmla="val 7813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3941064"/>
            <a:ext cx="402336" cy="402336"/>
          </a:xfrm>
          <a:prstGeom prst="ellipse">
            <a:avLst/>
          </a:prstGeom>
          <a:solidFill>
            <a:srgbClr val="4DBCD8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75320" y="389534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Sub-calls recurse on pieces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275320" y="428853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In[2]: the code splits the prompt and fires llm_query(...) calls — each spawns a full RLM at depth 1, and its sub-response returns into the REPL.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98080" y="5084064"/>
            <a:ext cx="4233672" cy="1170432"/>
          </a:xfrm>
          <a:prstGeom prst="roundRect">
            <a:avLst>
              <a:gd name="adj" fmla="val 7813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80960" y="5239512"/>
            <a:ext cx="402336" cy="402336"/>
          </a:xfrm>
          <a:prstGeom prst="ellipse">
            <a:avLst/>
          </a:prstGeom>
          <a:solidFill>
            <a:srgbClr val="A93836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0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275320" y="51937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answer exits symbolically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275320" y="558698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In[N]: print(FINAL_ANSWER) — the final response is assembled in the environment, never verbalized through the window.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Why it wins: the numbers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Median improvement across four long-context benchmarks, GPT-5 as the root model.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7424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100×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beyond the context window — 10M+ token 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519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A883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+28.3%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5303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fine-tuned RLM-Qwen3-8B over its base model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0" y="1691640"/>
          <a:ext cx="67208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Three requirements ordinary tool-calling misses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D7424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Symbolic handle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Manipulate the prompt by reference — a REPL variable — never by copying text into the model's window.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34256" y="155448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7F8FA"/>
          </a:solidFill>
          <a:ln/>
        </p:spPr>
      </p:sp>
      <p:sp>
        <p:nvSpPr>
          <p:cNvPr id="9" name="Shape 6"/>
          <p:cNvSpPr/>
          <p:nvPr/>
        </p:nvSpPr>
        <p:spPr>
          <a:xfrm>
            <a:off x="4654296" y="1874520"/>
            <a:ext cx="777240" cy="777240"/>
          </a:xfrm>
          <a:prstGeom prst="ellipse">
            <a:avLst/>
          </a:prstGeom>
          <a:solidFill>
            <a:srgbClr val="FA88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057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4296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Symbolic output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54296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answer is returned from a REPL variable, not verbalized token by token — so output length is unbounded.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19872" y="155448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7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439912" y="1874520"/>
            <a:ext cx="777240" cy="777240"/>
          </a:xfrm>
          <a:prstGeom prst="ellipse">
            <a:avLst/>
          </a:prstGeom>
          <a:solidFill>
            <a:srgbClr val="4DBCD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0574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39912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Symbolic recursion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439912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Code running inside the environment can invoke the LM on programmatically constructed inputs — Ω(|P|) sub-calls inside loops.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A93836"/>
          </a:solidFill>
          <a:ln/>
        </p:spPr>
      </p:sp>
      <p:sp>
        <p:nvSpPr>
          <p:cNvPr id="19" name="Text 14"/>
          <p:cNvSpPr/>
          <p:nvPr/>
        </p:nvSpPr>
        <p:spPr>
          <a:xfrm>
            <a:off x="868680" y="5257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 separate “sub-LLM tool” next to a “code tool” is not expressive enough — the recursion has to live inside the code.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 is the environment 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Every requirement in the paper's algorithm maps onto a pydantic-monty primitive.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BEF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Persistent REPL, state across iterations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60520" y="1645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MontySession — globals and functions survive feed_run calls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9514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as a variable, outside the window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22951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inputs={'prompt': P} binds host values as sandbox globals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BEF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443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Sub-LM calls from inside code, in loops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60520" y="29443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external_lookup — sandboxed code awaits host coroutines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935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Many sub-calls, concurrently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0520" y="359359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AsyncMonty awaits coroutine externals concurrently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42816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BEF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428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Untrusted model-written code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60520" y="4242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Rust interpreter, subprocess workers, no filesystem / network / env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920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Runaway Ω(|P|) loops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60520" y="48920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ResourceLimits (time, memory, recursion) + pool request_timeout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541264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BEFE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412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Resume long runs after a restart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60520" y="55412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dump() / load_snapshot() freeze a suspended execution to bytes</a:t>
            </a:r>
            <a:endParaRPr lang="en-US" sz="1200" dirty="0"/>
          </a:p>
        </p:txBody>
      </p:sp>
      <p:pic>
        <p:nvPicPr>
          <p:cNvPr id="25" name="Image 0" descr="/private/tmp/claude-501/-Users-premchotipanit-orca-workspaces-monty-claw-daggertooth/68ed5494-6007-4714-beb4-bddafff65978/scratchpad/rlm-deck/sandbox-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737360"/>
            <a:ext cx="3154680" cy="315468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503920" y="507492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FBEFEF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0" y="5138928"/>
            <a:ext cx="2788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383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paper's reference impl runs unrestricted CPython. Monty makes the same loop deployable.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 in code: the primitives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Runnable examples from snippets/ in this repo.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 persistent session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State survives across feeds — the REPL the RLM loop needs.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38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snippets/01_basics.py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94760" y="1627632"/>
            <a:ext cx="7845552" cy="1444752"/>
          </a:xfrm>
          <a:prstGeom prst="roundRect">
            <a:avLst>
              <a:gd name="adj" fmla="val 5063"/>
            </a:avLst>
          </a:prstGeom>
          <a:solidFill>
            <a:srgbClr val="23272E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1737360"/>
            <a:ext cx="7315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Monty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feed_run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 = 21'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feed_run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 * 2'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42 — state persists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feed_run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'sorted(scores)[:top_n]'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'scores'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'top_n'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External functions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8640" y="3630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 filesystem, network, or env — the only doors out are the ones you open.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38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snippets/02_external_functions.py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94760" y="3227832"/>
            <a:ext cx="7845552" cy="1444752"/>
          </a:xfrm>
          <a:prstGeom prst="roundRect">
            <a:avLst>
              <a:gd name="adj" fmla="val 5063"/>
            </a:avLst>
          </a:prstGeom>
          <a:solidFill>
            <a:srgbClr val="23272E"/>
          </a:solidFill>
          <a:ln/>
        </p:spPr>
      </p:sp>
      <p:sp>
        <p:nvSpPr>
          <p:cNvPr id="13" name="Text 11"/>
          <p:cNvSpPr/>
          <p:nvPr/>
        </p:nvSpPr>
        <p:spPr>
          <a:xfrm>
            <a:off x="4069080" y="3337560"/>
            <a:ext cx="7315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feed_run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'usernames'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'ada'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'grace'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eager globals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external_lookup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'get_user'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get_user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lazy host calls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print_callback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CollectString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capped stdout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Snapshots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8640" y="52303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Freeze a run parked at a host call; resume days later, elsewhere.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38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snippets/04_snapshots.py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94760" y="4828032"/>
            <a:ext cx="7845552" cy="1444752"/>
          </a:xfrm>
          <a:prstGeom prst="roundRect">
            <a:avLst>
              <a:gd name="adj" fmla="val 5063"/>
            </a:avLst>
          </a:prstGeom>
          <a:solidFill>
            <a:srgbClr val="23272E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4937760"/>
            <a:ext cx="7315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feed_start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parked at get_population(...)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database, another machine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load_snapshot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external_lookup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'get_population'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resume_auto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finishes as if never stopped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 agent loop inside the sandbox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snippets/06_llm_agent_in_sandbox.py — the RLM pattern, running today on monty + Ollama.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3977640" cy="1316736"/>
          </a:xfrm>
          <a:prstGeom prst="roundRect">
            <a:avLst>
              <a:gd name="adj" fmla="val 6944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09928"/>
            <a:ext cx="256032" cy="256032"/>
          </a:xfrm>
          <a:prstGeom prst="ellipse">
            <a:avLst/>
          </a:prstGeom>
          <a:solidFill>
            <a:srgbClr val="D742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18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Control flow lives in the code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200253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agent loops, branches, and keeps state inside monty — the inverted pattern RLMs formalize.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990088"/>
            <a:ext cx="3977640" cy="1316736"/>
          </a:xfrm>
          <a:prstGeom prst="roundRect">
            <a:avLst>
              <a:gd name="adj" fmla="val 6944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191256"/>
            <a:ext cx="256032" cy="256032"/>
          </a:xfrm>
          <a:prstGeom prst="ellipse">
            <a:avLst/>
          </a:prstGeom>
          <a:solidFill>
            <a:srgbClr val="FA883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998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call_llm is an external coroutine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348386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sandbox can't reach the network; the host makes each Ollama call and feeds the answer back 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4471416"/>
            <a:ext cx="3977640" cy="1316736"/>
          </a:xfrm>
          <a:prstGeom prst="roundRect">
            <a:avLst>
              <a:gd name="adj" fmla="val 6944"/>
            </a:avLst>
          </a:prstGeom>
          <a:solidFill>
            <a:srgbClr val="F7F8F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4672584"/>
            <a:ext cx="256032" cy="256032"/>
          </a:xfrm>
          <a:prstGeom prst="ellipse">
            <a:avLst/>
          </a:prstGeom>
          <a:solidFill>
            <a:srgbClr val="4DBCD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811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Checked before it runs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96519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type_check=True verifies the agent code against host-provided stubs; limits cap time and memory.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1508760"/>
            <a:ext cx="7022592" cy="3108960"/>
          </a:xfrm>
          <a:prstGeom prst="roundRect">
            <a:avLst>
              <a:gd name="adj" fmla="val 2353"/>
            </a:avLst>
          </a:prstGeom>
          <a:solidFill>
            <a:srgbClr val="23272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6276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8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AGENT_CODE  ·  runs inside monty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938528"/>
            <a:ext cx="6492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'role'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call_llm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external function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'NEED_CHECK'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'Double-check it.'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4800600"/>
            <a:ext cx="7022592" cy="1481328"/>
          </a:xfrm>
          <a:prstGeom prst="roundRect">
            <a:avLst>
              <a:gd name="adj" fmla="val 4938"/>
            </a:avLst>
          </a:prstGeom>
          <a:solidFill>
            <a:srgbClr val="23272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49194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8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SIDE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5193792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feed_run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AGENT_CODE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'question'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external_lookup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'call_llm'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call_llm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async → awaited concurrently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Why not Docker, Pyodide, or WASM?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alternatives for running untrusted code — from the pydantic/monty README.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83080"/>
                <a:gridCol w="1600200"/>
                <a:gridCol w="1417320"/>
                <a:gridCol w="1828800"/>
                <a:gridCol w="1810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Tech</a:t>
                      </a:r>
                      <a:endParaRPr lang="en-US" sz="130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3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Language</a:t>
                      </a:r>
                      <a:endParaRPr lang="en-US" sz="130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3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Security</a:t>
                      </a:r>
                      <a:endParaRPr lang="en-US" sz="130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3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Startup</a:t>
                      </a:r>
                      <a:endParaRPr lang="en-US" sz="130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3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Setup</a:t>
                      </a:r>
                      <a:endParaRPr lang="en-US" sz="130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3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Snapshotting</a:t>
                      </a:r>
                      <a:endParaRPr lang="en-US" sz="130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38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3836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Monty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3836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partial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3836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strict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3836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0.06 ms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3836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easy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3836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easy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Docker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full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good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195 ms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intermediate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intermediate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Pyodide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full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poor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2,800 ms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intermediate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hard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starlark-rust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very limited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good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1.7 ms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easy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impossible?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WASI / Wasmer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almost full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strict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66 ms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intermediate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intermediate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Sandboxing service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full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strict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1,033 ms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intermediate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intermediate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YOLO Python (exec)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full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non-existent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0.1 ms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easy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hard</a:t>
                      </a:r>
                      <a:endParaRPr lang="en-US" sz="12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A93836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 RLM run is hundreds of short REPL turns with sub-LM recursion — microsecond startup, strict isolation, and easy snapshotting are the three columns that matter. Only monty has all three.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Source: github.com/pydantic/monty#alternatives · latencies from scripts/startup_performance.py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RLM loop on monty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huge_prompt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bound as a sandbox global via inputs= — never shown to the root LM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20440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D74248"/>
          </a:solidFill>
          <a:ln/>
        </p:spPr>
      </p:sp>
      <p:sp>
        <p:nvSpPr>
          <p:cNvPr id="7" name="Text 5"/>
          <p:cNvSpPr/>
          <p:nvPr/>
        </p:nvSpPr>
        <p:spPr>
          <a:xfrm>
            <a:off x="370332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Root LLM writes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22860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sees only len(prompt), a prefix, and past truncated stdout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A883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env.feed_run(code)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2860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external_lookup={'llm_query': …} — sub-LM calls await concurrently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64040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4DBCD8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92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stdout, capped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46920" y="22860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CollectString(max_bytes=4096) appended to history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27248" y="2395728"/>
            <a:ext cx="365760" cy="365760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9048" y="2395728"/>
            <a:ext cx="365760" cy="365760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7" name="Shape 15"/>
          <p:cNvSpPr/>
          <p:nvPr/>
        </p:nvSpPr>
        <p:spPr>
          <a:xfrm>
            <a:off x="9070848" y="2395728"/>
            <a:ext cx="365760" cy="365760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3794760"/>
            <a:ext cx="5897880" cy="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566160"/>
            <a:ext cx="0" cy="22860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3566160"/>
            <a:ext cx="0" cy="22860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3858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repeat until the code sets FINAL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BEFE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70916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383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Symbolic exit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FINAL is read out of the REPL — the answer can be larger than the model's window.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99632" y="452628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BEFEF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7091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383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Durability the paper can't offer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dump() between iterations freezes a suspended run — even parked at a sub-LM call — and resumes after a process restart.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RLM loop, in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snippets/08_rlm_loop.py — a working RLM(depth=1) driver on monty + Ollama; the diagram on the previous slide, executable.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3977640"/>
          </a:xfrm>
          <a:prstGeom prst="roundRect">
            <a:avLst>
              <a:gd name="adj" fmla="val 1839"/>
            </a:avLst>
          </a:prstGeom>
          <a:solidFill>
            <a:srgbClr val="2327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AsyncMonty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script_name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'rlm.py'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persistent 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feed_run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'prompt'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HUGE_PROMPT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shown to the LM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f'len(prompt) = {len_prompt}. Begin.'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extract_code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root_llm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LM writes code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CollectString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max_bytes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4096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capped stdout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feed_run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external_lookup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'llm_query'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llm_query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sub-LM, depth=1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print_callback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MontyError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f'Error: {err(e)}'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fixes itself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f'stdout: {out.output}'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feed_run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FINAL_PROBE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 until FINAL is set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symbolic exit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57607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A9383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760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Every box in the paper's Algorithm 1 maps onto a monty primitive — and a dump() between iterations makes the whole run resumable across restarts, which the paper's CPython implementation cannot do.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 monty does not give you for free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29968"/>
            <a:ext cx="603504" cy="603504"/>
          </a:xfrm>
          <a:prstGeom prst="ellipse">
            <a:avLst/>
          </a:prstGeom>
          <a:solidFill>
            <a:srgbClr val="D7424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762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10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Python subset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83080" y="222199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 third-party imports, no class inheritance, incomplete stdlib. Constrain the root model's system prompt to the subset — or use the embedded-CPython worker where trust allows.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18688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602736"/>
            <a:ext cx="603504" cy="603504"/>
          </a:xfrm>
          <a:prstGeom prst="ellipse">
            <a:avLst/>
          </a:prstGeom>
          <a:solidFill>
            <a:srgbClr val="FA88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74904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383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Truncation discipline is on you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78308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 provides the capture hook (CollectString); the policy for truncating and summarizing stdout lives in your scaffold.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791456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5175504"/>
            <a:ext cx="603504" cy="603504"/>
          </a:xfrm>
          <a:prstGeom prst="ellipse">
            <a:avLst/>
          </a:prstGeom>
          <a:solidFill>
            <a:srgbClr val="4DBCD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32180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956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outer loop is yours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783080" y="53675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 is the environment E. The RLM driver — model ↔ REPL iteration, the FINAL convention, recursion-depth bookkeeping — is host code you write.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None of these are blockers — they are the scaffold you would write around any REPL. See snippets/06 and 07 in the repo.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74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emchotipanit/orca/workspaces/monty-claw/daggertooth/assets/page-log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56" y="10515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60604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MontyClaw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3108960" y="3749040"/>
            <a:ext cx="5971032" cy="1371600"/>
          </a:xfrm>
          <a:prstGeom prst="roundRect">
            <a:avLst>
              <a:gd name="adj" fmla="val 10000"/>
            </a:avLst>
          </a:prstGeom>
          <a:solidFill>
            <a:srgbClr val="A93836"/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3108960" y="3749040"/>
            <a:ext cx="5971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011680" y="557784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8F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 OpenClaw-style assistant, rebuilt serverless: Telegram + web, on Cloud Run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74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554480"/>
            <a:ext cx="9994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paper describes the algorithm.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 is its environment E, built for production.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828800" y="3429000"/>
            <a:ext cx="8531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8F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arXiv:2512.24601 supplies the evidence — benchmarks, ablations, cost analysis — that “LM writes code in a persistent REPL, with sub-LM calls inside the code” is the right abstraction for scaling context. pydantic-monty supplies the runtime that abstraction needs: sandboxed, resource-limited, stateful, async-recursive, and snapshottable.</a:t>
            </a:r>
            <a:endParaRPr lang="en-US" sz="1600" dirty="0"/>
          </a:p>
        </p:txBody>
      </p:sp>
      <p:pic>
        <p:nvPicPr>
          <p:cNvPr id="4" name="Image 0" descr="/Users/premchotipanit/orca/workspaces/monty-claw/daggertooth/assets/page-log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5257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One MontyClaw turn, in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src/monty_claw/rlm/engine.py — one user message is one Agent.run in code mode.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3977640"/>
          </a:xfrm>
          <a:prstGeom prst="roundRect">
            <a:avLst>
              <a:gd name="adj" fmla="val 1839"/>
            </a:avLst>
          </a:prstGeom>
          <a:solidFill>
            <a:srgbClr val="2327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agent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Agent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model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deps_type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TurnDeps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instructions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prompts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INSTRUCTIONS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capabilities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[</a:t>
            </a: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CodeMode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max_tool_calls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settings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max_tool_calls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         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resource_limits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</a:t>
            </a: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'max_duration_secs'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30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                           </a:t>
            </a: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'max_memory'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200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&lt;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&lt;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20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]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@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agent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tool_plain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       </a:t>
            </a:r>
            <a:r>
              <a:rPr lang="en-US" sz="11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callable from sandbox code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async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def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llm_query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prompt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str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&gt;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str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</a:t>
            </a:r>
            <a:r>
              <a:rPr lang="en-US" sz="11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...the recursion, at depth 1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return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await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sub_agent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run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prompt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output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async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def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run_turn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chat_key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str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user_text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str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&gt;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str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history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await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load_history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chat_key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</a:t>
            </a:r>
            <a:r>
              <a:rPr lang="en-US" sz="11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rehydrated from GCS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async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with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asyncio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timeout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settings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turn_deadline_secs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result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await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agent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run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user_text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     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deps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TurnDeps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chat_key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chat_key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     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message_history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history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       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usage_limits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UsageLimits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request_limit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</a:t>
            </a: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8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await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save_history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chat_key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result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all_messages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</a:t>
            </a:r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return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result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.</a:t>
            </a: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output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57607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A9383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760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REPL lives for one run — code mode's contract. What survives between messages is the serialized message history in GCS, so a cold container picks the conversation up mid-sentence.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 to watch in the 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29968"/>
            <a:ext cx="603504" cy="603504"/>
          </a:xfrm>
          <a:prstGeom prst="ellipse">
            <a:avLst/>
          </a:prstGeom>
          <a:solidFill>
            <a:srgbClr val="D7424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762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10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It computes, it does not guess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83080" y="222199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Ask for something checkable — a date difference, a sum over a list — and it writes Python in the sandbox instead of recalling an answer.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18688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602736"/>
            <a:ext cx="603504" cy="603504"/>
          </a:xfrm>
          <a:prstGeom prst="ellipse">
            <a:avLst/>
          </a:prstGeom>
          <a:solidFill>
            <a:srgbClr val="FA88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74904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383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It hands back artifacts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78308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generate_image writes a PNG to the bucket and Telegram receives it inline; the URL is served back through the app, so the bucket itself stays private.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791456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5175504"/>
            <a:ext cx="603504" cy="603504"/>
          </a:xfrm>
          <a:prstGeom prst="ellipse">
            <a:avLst/>
          </a:prstGeom>
          <a:solidFill>
            <a:srgbClr val="4DBCD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32180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956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It remembers, from a cold start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783080" y="53675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Tell it something, let the container scale to zero, come back — the history reloads from GCS and MontyClaw carries on where it left off.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One FastAPI service on Cloud Run: Telegram webhook, web UI, and the media route, scaled to zero between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MontyClaw: OpenClaw without the always-on box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same idea — one assistant living in your chat apps — rebuilt stateless, sandboxed, and scaled to zero.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7607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A9383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760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OpenClaw keeps a daemon alive on a machine you own, with your own shell as its sandbox. MontyClaw is that assistant as a request: it wakes on a webhook, thinks inside a Rust interpreter, writes its memory to a bucket, and vanishes until the next message.</a:t>
            </a:r>
            <a:endParaRPr lang="en-US" sz="1300" dirty="0"/>
          </a:p>
        </p:txBody>
      </p:sp>
      <p:pic>
        <p:nvPicPr>
          <p:cNvPr id="8" name="Image Map" descr="MontyClaw system 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09" y="1560000"/>
            <a:ext cx="7454582" cy="412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Not exec() — Monty, through the harness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injection stops being a credential problem: the code runs in a Rust interpreter with nothing plugged into it, and every key stays on the host side of a tool call.</a:t>
            </a:r>
            <a:endParaRPr lang="en-US" sz="1500" dirty="0"/>
          </a:p>
        </p:txBody>
      </p:sp>
      <p:pic>
        <p:nvPicPr>
          <p:cNvPr id="8" name="Image Tools" descr="Monty sandbox and the host-side tool lay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456" y="1560000"/>
            <a:ext cx="9267088" cy="495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MontyClaw: the paper's loop, deployed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Every box of Algorithm 1 has a monty primitive behind it — plus what a chat assistant needs on top.</a:t>
            </a:r>
            <a:endParaRPr lang="en-US" sz="1500" dirty="0"/>
          </a:p>
        </p:txBody>
      </p:sp>
      <p:pic>
        <p:nvPicPr>
          <p:cNvPr id="8" name="Image Loop" descr="How MontyClaw implements the RLM algorithm, and what it ad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02" y="1560000"/>
            <a:ext cx="10987996" cy="5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2026-08-27T16:50:35Z</dcterms:created>
  <dcterms:modified xsi:type="dcterms:W3CDTF">2026-08-27T16:50:35Z</dcterms:modified>
</cp:coreProperties>
</file>